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108960"/>
            <a:ext cx="6217920" cy="6217920"/>
          </a:xfrm>
          <a:prstGeom prst="ellipse">
            <a:avLst/>
          </a:prstGeom>
          <a:solidFill>
            <a:srgbClr val="1D2C6B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480560"/>
            <a:ext cx="3840480" cy="3840480"/>
          </a:xfrm>
          <a:prstGeom prst="ellipse">
            <a:avLst/>
          </a:prstGeom>
          <a:solidFill>
            <a:srgbClr val="2E40A4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86868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2E40A4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8686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1-KUN · 3-SESSIYA · 16:00–16:50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va Gemini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94360" y="29260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 kuchli SI yordamchilar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3886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Chuqur tahlil  ·  WOW lahza  ·  Ovoz, rasm, video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4983480"/>
            <a:ext cx="457200" cy="457200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111496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4983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vosita, ikki kuchli tomon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KENGROQ QARASH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dunyosi faqat ChatGPT'dan iborat emas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— ajoyib, lekin yagona emas. Har bir vositaning o'z kuchli tomoni bor. Yaxshi mutaxassis to'g'ri ish uchun to'g'ri vositani tanlaydi.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286000"/>
            <a:ext cx="3422904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1472" y="2670048"/>
            <a:ext cx="868680" cy="868680"/>
          </a:xfrm>
          <a:prstGeom prst="ellipse">
            <a:avLst/>
          </a:prstGeom>
          <a:solidFill>
            <a:srgbClr val="DDE5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8642" y="2887218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703320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1391412" y="4169664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AEFFB"/>
          </a:solidFill>
          <a:ln/>
        </p:spPr>
      </p:sp>
      <p:sp>
        <p:nvSpPr>
          <p:cNvPr id="10" name="Text 7"/>
          <p:cNvSpPr/>
          <p:nvPr/>
        </p:nvSpPr>
        <p:spPr>
          <a:xfrm>
            <a:off x="1391412" y="41696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4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4663440"/>
            <a:ext cx="2782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Kundalik ishlar, matn yozish, savol-javob. Eng birinchi tanlov.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83024" y="2286000"/>
            <a:ext cx="3422904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0136" y="2670048"/>
            <a:ext cx="868680" cy="868680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306" y="2887218"/>
            <a:ext cx="434340" cy="4343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65904" y="3703320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5180076" y="4169664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AEFFB"/>
          </a:solidFill>
          <a:ln/>
        </p:spPr>
      </p:sp>
      <p:sp>
        <p:nvSpPr>
          <p:cNvPr id="17" name="Text 13"/>
          <p:cNvSpPr/>
          <p:nvPr/>
        </p:nvSpPr>
        <p:spPr>
          <a:xfrm>
            <a:off x="5180076" y="41696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4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 + matn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703064" y="4663440"/>
            <a:ext cx="2782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hujjatlar, sifatli yozish, puxta va chuqur mulohaza.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71688" y="2286000"/>
            <a:ext cx="3422904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448800" y="2670048"/>
            <a:ext cx="868680" cy="868680"/>
          </a:xfrm>
          <a:prstGeom prst="ellipse">
            <a:avLst/>
          </a:prstGeom>
          <a:solidFill>
            <a:srgbClr val="2E40A4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970" y="2887218"/>
            <a:ext cx="434340" cy="4343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54568" y="3703320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2100" dirty="0"/>
          </a:p>
        </p:txBody>
      </p:sp>
      <p:sp>
        <p:nvSpPr>
          <p:cNvPr id="23" name="Shape 18"/>
          <p:cNvSpPr/>
          <p:nvPr/>
        </p:nvSpPr>
        <p:spPr>
          <a:xfrm>
            <a:off x="8968740" y="4169664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AEFFB"/>
          </a:solidFill>
          <a:ln/>
        </p:spPr>
      </p:sp>
      <p:sp>
        <p:nvSpPr>
          <p:cNvPr id="24" name="Text 19"/>
          <p:cNvSpPr/>
          <p:nvPr/>
        </p:nvSpPr>
        <p:spPr>
          <a:xfrm>
            <a:off x="8968740" y="41696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4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491728" y="4663440"/>
            <a:ext cx="2782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Rasm, ovoz va video. Google xizmatlari bilan birga ishlaydi.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3-SESSIYA · Claude va Gemini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TANISHUV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bu nima?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6126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052828"/>
            <a:ext cx="603504" cy="603504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22037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482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kompaniyasi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4140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Xavfsizlikka alohida e'tibor beradigan SI laboratoriyasi.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" y="3063240"/>
            <a:ext cx="6126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86968" y="3287268"/>
            <a:ext cx="603504" cy="603504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" y="34381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2826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 ustuvor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91640" y="36484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tamoyillar asosida ishlaydi (“Constitutional AI”).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4297680"/>
            <a:ext cx="6126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86968" y="4521708"/>
            <a:ext cx="603504" cy="603504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467258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5171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Tabiiy, sifatli matn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91640" y="48828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tabiiy, inson kabi yozadigan yordamchilardan biri.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132320" y="1828800"/>
            <a:ext cx="4462272" cy="3703320"/>
          </a:xfrm>
          <a:prstGeom prst="roundRect">
            <a:avLst>
              <a:gd name="adj" fmla="val 2963"/>
            </a:avLst>
          </a:prstGeom>
          <a:solidFill>
            <a:srgbClr val="152253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0" y="2148840"/>
            <a:ext cx="548640" cy="548640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2860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83880" y="2176272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Nimada eng kuchli?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589520" y="2971800"/>
            <a:ext cx="36393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4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hujjatlarni o'qiy oladi (yuzlab sahifa)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4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Chuqur mulohaza va batafsil tahlil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4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Murakkab mavzularda ehtiyotkor va aniq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4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Sifatli, rasmiy va tabiiy matn yozish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3-SESSIYA · Claude va Gemini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DEMO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hujjatni chuqur tahlil qilish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11000232" cy="1097280"/>
          </a:xfrm>
          <a:prstGeom prst="roundRect">
            <a:avLst>
              <a:gd name="adj" fmla="val 10000"/>
            </a:avLst>
          </a:prstGeom>
          <a:solidFill>
            <a:srgbClr val="EAEFF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29968"/>
            <a:ext cx="603504" cy="603504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21808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993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D7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VAZIYAT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691640" y="2249424"/>
            <a:ext cx="9537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sahifalik murakkab hisobot yoki shartnoma keldi. To'liq o'qishga vaqt yo'q, lekin muhim joylarni o'tkazib yubormaslik kerak.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94360" y="3200400"/>
            <a:ext cx="342290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985772" y="3493008"/>
            <a:ext cx="640080" cy="640080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92" y="365302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4261104"/>
            <a:ext cx="3057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fikrlar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68680" y="4590288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Butun hujjat → qisqa va aniq xulosa.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383024" y="3200400"/>
            <a:ext cx="342290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74436" y="3493008"/>
            <a:ext cx="640080" cy="640080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365302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65904" y="4261104"/>
            <a:ext cx="3057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 va ziddiyatlar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4657344" y="4590288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E'tibor talab qiladigan bandlarni ajratadi.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171688" y="3200400"/>
            <a:ext cx="342290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563100" y="3493008"/>
            <a:ext cx="640080" cy="640080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3120" y="3653028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54568" y="4261104"/>
            <a:ext cx="3057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 berasiz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446008" y="4590288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“5-bandda nima yozilgan?” — topib, javob beradi.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94360" y="5230368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2E4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fikr: 40 sahifa → bir necha daqiqada tushunarli xulosa.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3-SESSIYA · Claude va Gemini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DEMO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hujjatni solishtirish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11000232" cy="1097280"/>
          </a:xfrm>
          <a:prstGeom prst="roundRect">
            <a:avLst>
              <a:gd name="adj" fmla="val 10000"/>
            </a:avLst>
          </a:prstGeom>
          <a:solidFill>
            <a:srgbClr val="EAEFF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29968"/>
            <a:ext cx="603504" cy="603504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21808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993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D7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VAZIYAT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691640" y="2249424"/>
            <a:ext cx="9537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 va yangi versiya, yoki ikkita taklif. Farqlarni qo'lda qidirish — uzoq va xato ehtimoli yuqori.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94360" y="3200400"/>
            <a:ext cx="3291840" cy="457200"/>
          </a:xfrm>
          <a:prstGeom prst="rect">
            <a:avLst/>
          </a:prstGeom>
          <a:solidFill>
            <a:srgbClr val="152253"/>
          </a:solidFill>
          <a:ln w="9525">
            <a:solidFill>
              <a:srgbClr val="D4DC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86200" y="3200400"/>
            <a:ext cx="3854196" cy="457200"/>
          </a:xfrm>
          <a:prstGeom prst="rect">
            <a:avLst/>
          </a:prstGeom>
          <a:solidFill>
            <a:srgbClr val="152253"/>
          </a:solidFill>
          <a:ln w="9525">
            <a:solidFill>
              <a:srgbClr val="D4DC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40396" y="3200400"/>
            <a:ext cx="3854196" cy="457200"/>
          </a:xfrm>
          <a:prstGeom prst="rect">
            <a:avLst/>
          </a:prstGeom>
          <a:solidFill>
            <a:srgbClr val="152253"/>
          </a:solidFill>
          <a:ln w="9525">
            <a:solidFill>
              <a:srgbClr val="D4DC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69080" y="3200400"/>
            <a:ext cx="3579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 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23276" y="3200400"/>
            <a:ext cx="3579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 B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" y="3657600"/>
            <a:ext cx="3291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86200" y="3657600"/>
            <a:ext cx="3854196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40396" y="3657600"/>
            <a:ext cx="3854196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 muddati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069080" y="3657600"/>
            <a:ext cx="3579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kun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923276" y="3657600"/>
            <a:ext cx="3579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D7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kun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4360" y="4114800"/>
            <a:ext cx="3291840" cy="457200"/>
          </a:xfrm>
          <a:prstGeom prst="rect">
            <a:avLst/>
          </a:prstGeom>
          <a:solidFill>
            <a:srgbClr val="F6F8FD"/>
          </a:solidFill>
          <a:ln w="9525">
            <a:solidFill>
              <a:srgbClr val="D4DC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886200" y="4114800"/>
            <a:ext cx="3854196" cy="457200"/>
          </a:xfrm>
          <a:prstGeom prst="rect">
            <a:avLst/>
          </a:prstGeom>
          <a:solidFill>
            <a:srgbClr val="F6F8FD"/>
          </a:solidFill>
          <a:ln w="9525">
            <a:solidFill>
              <a:srgbClr val="D4DC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40396" y="4114800"/>
            <a:ext cx="3854196" cy="457200"/>
          </a:xfrm>
          <a:prstGeom prst="rect">
            <a:avLst/>
          </a:prstGeom>
          <a:solidFill>
            <a:srgbClr val="F6F8FD"/>
          </a:solidFill>
          <a:ln w="9525">
            <a:solidFill>
              <a:srgbClr val="D4DC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4114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Komissiya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069080" y="4114800"/>
            <a:ext cx="3579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923276" y="4114800"/>
            <a:ext cx="3579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D7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94360" y="4572000"/>
            <a:ext cx="3291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F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886200" y="4572000"/>
            <a:ext cx="3854196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40396" y="4572000"/>
            <a:ext cx="3854196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7240" y="4572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Javobgarlik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4069080" y="4572000"/>
            <a:ext cx="3579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Cheklangan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923276" y="4572000"/>
            <a:ext cx="3579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D7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To'liq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594360" y="5193792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ikkala hujjatni o'qib, farqlarni jadval ko'rinishida ajratib beradi — oltin rangda ajratilgan ustun o'zgargan qiymatlar.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94360" y="5779008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2E4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fikr: farqlar bir qarashda ko'rinadi — hech narsa e'tibordan chetda qolmaydi.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3-SESSIYA · Claude va Gemini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22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669280" cy="5669280"/>
          </a:xfrm>
          <a:prstGeom prst="ellipse">
            <a:avLst/>
          </a:prstGeom>
          <a:solidFill>
            <a:srgbClr val="1D2C6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502920"/>
            <a:ext cx="512064" cy="512064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135" y="620695"/>
            <a:ext cx="276515" cy="2765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52728" y="5029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 LAHZA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960120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Zaldan jonli vazifa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94360" y="1783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2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Hoziroq — sizning haqiqiy ishingiz bilan sinab ko'ramiz. Auditoriyadan bitta misol olamiz.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94360" y="2514600"/>
            <a:ext cx="3422904" cy="2286000"/>
          </a:xfrm>
          <a:prstGeom prst="roundRect">
            <a:avLst>
              <a:gd name="adj" fmla="val 4800"/>
            </a:avLst>
          </a:prstGeom>
          <a:solidFill>
            <a:srgbClr val="1D2C6B"/>
          </a:solidFill>
          <a:ln/>
          <a:effectLst>
            <a:outerShdw sx="100000" sy="100000" kx="0" ky="0" algn="bl" rotWithShape="0" blurRad="127000" dist="38100" dir="5400000">
              <a:srgbClr val="0A123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949196" y="2825496"/>
            <a:ext cx="713232" cy="713232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504" y="3003804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3666744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Hujjatingizni bering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868680" y="4014216"/>
            <a:ext cx="2874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2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Haqiqiy hisobot yoki maktub — birga tahlil qilamiz.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83024" y="2514600"/>
            <a:ext cx="3422904" cy="2286000"/>
          </a:xfrm>
          <a:prstGeom prst="roundRect">
            <a:avLst>
              <a:gd name="adj" fmla="val 4800"/>
            </a:avLst>
          </a:prstGeom>
          <a:solidFill>
            <a:srgbClr val="1D2C6B"/>
          </a:solidFill>
          <a:ln/>
          <a:effectLst>
            <a:outerShdw sx="100000" sy="100000" kx="0" ky="0" algn="bl" rotWithShape="0" blurRad="127000" dist="38100" dir="5400000">
              <a:srgbClr val="0A123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737860" y="2825496"/>
            <a:ext cx="713232" cy="713232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3003804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65904" y="3666744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matnni solishtiring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4657344" y="4014216"/>
            <a:ext cx="2874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2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Farqlarni jonli, shu yerda ajratamiz.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71688" y="2514600"/>
            <a:ext cx="3422904" cy="2286000"/>
          </a:xfrm>
          <a:prstGeom prst="roundRect">
            <a:avLst>
              <a:gd name="adj" fmla="val 4800"/>
            </a:avLst>
          </a:prstGeom>
          <a:solidFill>
            <a:srgbClr val="1D2C6B"/>
          </a:solidFill>
          <a:ln/>
          <a:effectLst>
            <a:outerShdw sx="100000" sy="100000" kx="0" ky="0" algn="bl" rotWithShape="0" blurRad="127000" dist="38100" dir="5400000">
              <a:srgbClr val="0A123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526524" y="2825496"/>
            <a:ext cx="713232" cy="713232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4832" y="3003804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54568" y="3666744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Murakkab atamani so'rang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8446008" y="4014216"/>
            <a:ext cx="2874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2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 tilda, bir zumda tushuntiramiz.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94360" y="516636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ishonchli isbot — o'z ishingizda, o'z ko'zingiz bilan ko'rish.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TANISHUV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— bu nima?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6126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052828"/>
            <a:ext cx="603504" cy="603504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22037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482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kompaniyasi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4140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Qidiruv, Gmail va Xaritalar ortidagi kompaniya.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" y="3063240"/>
            <a:ext cx="6126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86968" y="3287268"/>
            <a:ext cx="603504" cy="603504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" y="34381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2826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mln+ foydalanuvchi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91640" y="36484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oyda; Google xizmatlariga o'rnatilgan.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4297680"/>
            <a:ext cx="6126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86968" y="4521708"/>
            <a:ext cx="603504" cy="603504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467258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5171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91640" y="48828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Matn, rasm, ovoz va videoni birga tushunadi.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132320" y="1828800"/>
            <a:ext cx="4462272" cy="3703320"/>
          </a:xfrm>
          <a:prstGeom prst="roundRect">
            <a:avLst>
              <a:gd name="adj" fmla="val 2963"/>
            </a:avLst>
          </a:prstGeom>
          <a:solidFill>
            <a:srgbClr val="152253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0" y="2148840"/>
            <a:ext cx="548640" cy="548640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2860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83880" y="2176272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Nimada eng kuchli?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589520" y="2971800"/>
            <a:ext cx="36393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4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 va ekrandagi narsani tushunadi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4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Ovoz bilan gaplashish (ayniqsa mobil)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4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ilovalariga yaqin integratsiya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4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va keng imkoniyatlar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3-SESSIYA · Claude va Gemini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TUSHUNCHA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“Multimodal” — bu nima degani?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Ko'pchilik SI faqat matn bilan ishlaydi. Multimodal SI bir vaqtning o'zida turli ko'rinishdagi ma'lumotni tushunadi: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2544318" cy="2651760"/>
          </a:xfrm>
          <a:prstGeom prst="roundRect">
            <a:avLst>
              <a:gd name="adj" fmla="val 43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77899" y="2697480"/>
            <a:ext cx="777240" cy="777240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2209" y="289179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630168"/>
            <a:ext cx="21785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50392" y="4014216"/>
            <a:ext cx="2032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 yoki skanni ko'rsatasiz — o'qiydi va tushuntiradi.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12998" y="2331720"/>
            <a:ext cx="2544318" cy="2651760"/>
          </a:xfrm>
          <a:prstGeom prst="roundRect">
            <a:avLst>
              <a:gd name="adj" fmla="val 43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6537" y="2697480"/>
            <a:ext cx="777240" cy="777240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847" y="289179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5878" y="3630168"/>
            <a:ext cx="21785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Ovoz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669030" y="4014216"/>
            <a:ext cx="2032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Gapirasiz — eshitadi va ovozda javob beradi.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31636" y="2331720"/>
            <a:ext cx="2544318" cy="2651760"/>
          </a:xfrm>
          <a:prstGeom prst="roundRect">
            <a:avLst>
              <a:gd name="adj" fmla="val 43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15175" y="2697480"/>
            <a:ext cx="777240" cy="777240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485" y="289179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4516" y="3630168"/>
            <a:ext cx="21785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87668" y="4014216"/>
            <a:ext cx="2032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Qisqa videoni ko'rib, mazmunini tahlil qiladi.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50274" y="2331720"/>
            <a:ext cx="2544318" cy="2651760"/>
          </a:xfrm>
          <a:prstGeom prst="roundRect">
            <a:avLst>
              <a:gd name="adj" fmla="val 43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33813" y="2697480"/>
            <a:ext cx="777240" cy="777240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8123" y="2891790"/>
            <a:ext cx="388620" cy="3886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33154" y="3630168"/>
            <a:ext cx="21785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306306" y="4014216"/>
            <a:ext cx="2032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Odatdagidek yozib ham so'rashingiz mumkin.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3-SESSIYA · Claude va Gemini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152253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· DEMO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Telefonda: ovoz, rasm va video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11000232" cy="1097280"/>
          </a:xfrm>
          <a:prstGeom prst="roundRect">
            <a:avLst>
              <a:gd name="adj" fmla="val 10000"/>
            </a:avLst>
          </a:prstGeom>
          <a:solidFill>
            <a:srgbClr val="EAEFF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29968"/>
            <a:ext cx="603504" cy="603504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21808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993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D7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VAZIYAT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691640" y="2249424"/>
            <a:ext cx="9537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Yo'lda yoki uchrashuvda — kompyutersiz, faqat telefon bilan ishlash kerak.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94360" y="3200400"/>
            <a:ext cx="342290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985772" y="3493008"/>
            <a:ext cx="640080" cy="640080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92" y="365302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4261104"/>
            <a:ext cx="3057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Rasmga oling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68680" y="4590288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 yoki jadvalni suratga olib: “Bu nima haqida?” deb so'rang.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383024" y="3200400"/>
            <a:ext cx="342290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74436" y="3493008"/>
            <a:ext cx="640080" cy="640080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365302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65904" y="4261104"/>
            <a:ext cx="3057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Ovoz bilan so'rang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4657344" y="4590288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Yozish shart emas — shunchaki gapirasiz, u eshitadi.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171688" y="3200400"/>
            <a:ext cx="342290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563100" y="3493008"/>
            <a:ext cx="640080" cy="640080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3120" y="3653028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54568" y="4261104"/>
            <a:ext cx="3057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joyda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446008" y="4590288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ilovasida, istalgan vaqtda — cho'ntakda.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94360" y="5230368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2E4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fikr: SI endi cho'ntakda — ko'rsatib yoki gapirib foydalanasiz.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3-SESSIYA · Claude va Gemini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TANLOV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Qaysi ish uchun qaysi vosita?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422904" cy="3611880"/>
          </a:xfrm>
          <a:prstGeom prst="roundRect">
            <a:avLst>
              <a:gd name="adj" fmla="val 32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075688"/>
            <a:ext cx="603504" cy="603504"/>
          </a:xfrm>
          <a:prstGeom prst="ellipse">
            <a:avLst/>
          </a:prstGeom>
          <a:solidFill>
            <a:srgbClr val="DDE5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22265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81912" y="2093976"/>
            <a:ext cx="2234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86968" y="2862072"/>
            <a:ext cx="2837688" cy="0"/>
          </a:xfrm>
          <a:prstGeom prst="line">
            <a:avLst/>
          </a:prstGeom>
          <a:noFill/>
          <a:ln w="12700">
            <a:solidFill>
              <a:srgbClr val="D4DC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3081528"/>
            <a:ext cx="2645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Kundalik savollar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 matn va g'oyalar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yordamchi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tanlov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3024" y="1783080"/>
            <a:ext cx="3422904" cy="3611880"/>
          </a:xfrm>
          <a:prstGeom prst="roundRect">
            <a:avLst>
              <a:gd name="adj" fmla="val 32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75632" y="2075688"/>
            <a:ext cx="603504" cy="603504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508" y="222656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0576" y="2093976"/>
            <a:ext cx="2234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675632" y="2862072"/>
            <a:ext cx="2837688" cy="0"/>
          </a:xfrm>
          <a:prstGeom prst="line">
            <a:avLst/>
          </a:prstGeom>
          <a:noFill/>
          <a:ln w="12700">
            <a:solidFill>
              <a:srgbClr val="D4DCF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40224" y="3081528"/>
            <a:ext cx="2645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hujjatlar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Sifatli, rasmiy matn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Chuqur mulohaza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Solishtirish va tahlil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71688" y="1783080"/>
            <a:ext cx="3422904" cy="3611880"/>
          </a:xfrm>
          <a:prstGeom prst="roundRect">
            <a:avLst>
              <a:gd name="adj" fmla="val 32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64296" y="2075688"/>
            <a:ext cx="603504" cy="603504"/>
          </a:xfrm>
          <a:prstGeom prst="ellipse">
            <a:avLst/>
          </a:prstGeom>
          <a:solidFill>
            <a:srgbClr val="2E40A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172" y="222656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59240" y="2093976"/>
            <a:ext cx="2234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8464296" y="2862072"/>
            <a:ext cx="2837688" cy="0"/>
          </a:xfrm>
          <a:prstGeom prst="line">
            <a:avLst/>
          </a:prstGeom>
          <a:noFill/>
          <a:ln w="12700">
            <a:solidFill>
              <a:srgbClr val="D4DCF2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628888" y="3081528"/>
            <a:ext cx="2645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 va ovoz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(telefon) ish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xizmatlari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tahlili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94360" y="557784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chegara yo'q — ko'pincha bir ishda bir nechtasini birga ishlatasiz.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3-SESSIYA · Claude va Gemini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Hammasini birga — bitta ish oqimi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44752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misol: bitta vazifada uchala vosita va inson birga ishlaydi.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11000232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2176272"/>
            <a:ext cx="512064" cy="512064"/>
          </a:xfrm>
          <a:prstGeom prst="ellipse">
            <a:avLst/>
          </a:prstGeom>
          <a:solidFill>
            <a:srgbClr val="152253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" y="2176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21579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Suratga oling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554480" y="2468880"/>
            <a:ext cx="7708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Qog'oz hujjatni telefon bilan rasmga olib, matnga aylantirasiz.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902952" y="2249424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52253"/>
          </a:solidFill>
          <a:ln/>
        </p:spPr>
      </p:sp>
      <p:sp>
        <p:nvSpPr>
          <p:cNvPr id="11" name="Text 9"/>
          <p:cNvSpPr/>
          <p:nvPr/>
        </p:nvSpPr>
        <p:spPr>
          <a:xfrm>
            <a:off x="9902952" y="224942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2999232"/>
            <a:ext cx="11000232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0392" y="3163824"/>
            <a:ext cx="512064" cy="512064"/>
          </a:xfrm>
          <a:prstGeom prst="ellipse">
            <a:avLst/>
          </a:prstGeom>
          <a:solidFill>
            <a:srgbClr val="152253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" y="31638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31455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Chuqur tahlil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554480" y="3456432"/>
            <a:ext cx="7708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matnni o'qib, asosiy fikr va xavflarni ajratadi.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902952" y="3236976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/>
        </p:spPr>
      </p:sp>
      <p:sp>
        <p:nvSpPr>
          <p:cNvPr id="18" name="Text 16"/>
          <p:cNvSpPr/>
          <p:nvPr/>
        </p:nvSpPr>
        <p:spPr>
          <a:xfrm>
            <a:off x="9902952" y="32369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3986784"/>
            <a:ext cx="11000232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0392" y="4151376"/>
            <a:ext cx="512064" cy="512064"/>
          </a:xfrm>
          <a:prstGeom prst="ellipse">
            <a:avLst/>
          </a:prstGeom>
          <a:solidFill>
            <a:srgbClr val="152253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" y="4151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54480" y="41330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Rasmiy javob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554480" y="4443984"/>
            <a:ext cx="7708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Tayyor xulosa asosida rasmiy xat yoki javob yozasiz.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02952" y="422452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DDE5F8"/>
          </a:solidFill>
          <a:ln/>
        </p:spPr>
      </p:sp>
      <p:sp>
        <p:nvSpPr>
          <p:cNvPr id="25" name="Text 23"/>
          <p:cNvSpPr/>
          <p:nvPr/>
        </p:nvSpPr>
        <p:spPr>
          <a:xfrm>
            <a:off x="9902952" y="42245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4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" y="4974336"/>
            <a:ext cx="11000232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50392" y="5138928"/>
            <a:ext cx="512064" cy="512064"/>
          </a:xfrm>
          <a:prstGeom prst="ellipse">
            <a:avLst/>
          </a:prstGeom>
          <a:solidFill>
            <a:srgbClr val="152253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" y="5138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554480" y="5120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Tekshiruv va qaror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554480" y="5431536"/>
            <a:ext cx="7708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Hammasini siz tekshirasiz va yakuniy qarorni qabul qilasiz.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902952" y="521208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4F3EC"/>
          </a:solidFill>
          <a:ln/>
        </p:spPr>
      </p:sp>
      <p:sp>
        <p:nvSpPr>
          <p:cNvPr id="32" name="Text 30"/>
          <p:cNvSpPr/>
          <p:nvPr/>
        </p:nvSpPr>
        <p:spPr>
          <a:xfrm>
            <a:off x="9902952" y="5212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8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3-SESSIYA · Claude va Gemini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22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55778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97864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MUHIM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94360" y="841248"/>
            <a:ext cx="11000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Uchala vosita uchun umumiy qoidalar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94360" y="1783080"/>
            <a:ext cx="5340096" cy="1828800"/>
          </a:xfrm>
          <a:prstGeom prst="roundRect">
            <a:avLst>
              <a:gd name="adj" fmla="val 6000"/>
            </a:avLst>
          </a:prstGeom>
          <a:solidFill>
            <a:srgbClr val="1D2C6B"/>
          </a:solidFill>
          <a:ln/>
          <a:effectLst>
            <a:outerShdw sx="100000" sy="100000" kx="0" ky="0" algn="bl" rotWithShape="0" blurRad="127000" dist="38100" dir="5400000">
              <a:srgbClr val="0A123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86968" y="2075688"/>
            <a:ext cx="512064" cy="512064"/>
          </a:xfrm>
          <a:prstGeom prst="ellipse">
            <a:avLst/>
          </a:prstGeom>
          <a:solidFill>
            <a:srgbClr val="FAE8E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60" y="2172980"/>
            <a:ext cx="317480" cy="317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057400"/>
            <a:ext cx="4105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Maxfiy ma'lumot — kiritilmaydi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14400" y="2743200"/>
            <a:ext cx="4700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2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siri va shaxsiy ma'lumot ommaviy SI vositalariga berilmaydi.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54496" y="1783080"/>
            <a:ext cx="5340096" cy="1828800"/>
          </a:xfrm>
          <a:prstGeom prst="roundRect">
            <a:avLst>
              <a:gd name="adj" fmla="val 6000"/>
            </a:avLst>
          </a:prstGeom>
          <a:solidFill>
            <a:srgbClr val="1D2C6B"/>
          </a:solidFill>
          <a:ln/>
          <a:effectLst>
            <a:outerShdw sx="100000" sy="100000" kx="0" ky="0" algn="bl" rotWithShape="0" blurRad="127000" dist="38100" dir="5400000">
              <a:srgbClr val="0A123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47104" y="2075688"/>
            <a:ext cx="512064" cy="512064"/>
          </a:xfrm>
          <a:prstGeom prst="ellipse">
            <a:avLst/>
          </a:prstGeom>
          <a:solidFill>
            <a:srgbClr val="E4F3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396" y="2172980"/>
            <a:ext cx="317480" cy="317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14616" y="2057400"/>
            <a:ext cx="4105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doim tekshiring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574536" y="2743200"/>
            <a:ext cx="4700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2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Raqam, fakt va huquqiy xulosa mustaqil tasdiqlanishi shart.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94360" y="3813048"/>
            <a:ext cx="5340096" cy="1828800"/>
          </a:xfrm>
          <a:prstGeom prst="roundRect">
            <a:avLst>
              <a:gd name="adj" fmla="val 6000"/>
            </a:avLst>
          </a:prstGeom>
          <a:solidFill>
            <a:srgbClr val="1D2C6B"/>
          </a:solidFill>
          <a:ln/>
          <a:effectLst>
            <a:outerShdw sx="100000" sy="100000" kx="0" ky="0" algn="bl" rotWithShape="0" blurRad="127000" dist="38100" dir="5400000">
              <a:srgbClr val="0A123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86968" y="4105656"/>
            <a:ext cx="512064" cy="512064"/>
          </a:xfrm>
          <a:prstGeom prst="ellipse">
            <a:avLst/>
          </a:prstGeom>
          <a:solidFill>
            <a:srgbClr val="E4F3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260" y="4202948"/>
            <a:ext cx="317480" cy="317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087368"/>
            <a:ext cx="4105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Yakuniy qaror — insonniki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914400" y="4773168"/>
            <a:ext cx="4700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2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yordamchi; javobgarlik va qaror har doim sizda qoladi.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54496" y="3813048"/>
            <a:ext cx="5340096" cy="1828800"/>
          </a:xfrm>
          <a:prstGeom prst="roundRect">
            <a:avLst>
              <a:gd name="adj" fmla="val 6000"/>
            </a:avLst>
          </a:prstGeom>
          <a:solidFill>
            <a:srgbClr val="1D2C6B"/>
          </a:solidFill>
          <a:ln/>
          <a:effectLst>
            <a:outerShdw sx="100000" sy="100000" kx="0" ky="0" algn="bl" rotWithShape="0" blurRad="127000" dist="38100" dir="5400000">
              <a:srgbClr val="0A1230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47104" y="4105656"/>
            <a:ext cx="512064" cy="512064"/>
          </a:xfrm>
          <a:prstGeom prst="ellipse">
            <a:avLst/>
          </a:prstGeom>
          <a:solidFill>
            <a:srgbClr val="E4F3E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396" y="4202948"/>
            <a:ext cx="317480" cy="317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14616" y="4087368"/>
            <a:ext cx="4105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vositaga bog'lanmang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574536" y="4773168"/>
            <a:ext cx="4700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C2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uchun eng mosini tanlang; kerak bo'lsa, solishtiring.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94360" y="594360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va ehtiyot ishlatilsa — uchchovi ham ishonchli yordamchi.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1-kundan asosiy xulosalar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172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5256" y="2093976"/>
            <a:ext cx="548640" cy="548640"/>
          </a:xfrm>
          <a:prstGeom prst="ellipse">
            <a:avLst/>
          </a:prstGeom>
          <a:solidFill>
            <a:srgbClr val="152253"/>
          </a:solidFill>
          <a:ln/>
        </p:spPr>
      </p:sp>
      <p:sp>
        <p:nvSpPr>
          <p:cNvPr id="6" name="Text 4"/>
          <p:cNvSpPr/>
          <p:nvPr/>
        </p:nvSpPr>
        <p:spPr>
          <a:xfrm>
            <a:off x="905256" y="2093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12264"/>
            <a:ext cx="39913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— vosita, sehr emas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23544" y="2807208"/>
            <a:ext cx="46588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 u gaplashadi, yozadi va yangi narsa yaratadi.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7356" y="1783080"/>
            <a:ext cx="53172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8252" y="2093976"/>
            <a:ext cx="548640" cy="548640"/>
          </a:xfrm>
          <a:prstGeom prst="ellipse">
            <a:avLst/>
          </a:prstGeom>
          <a:solidFill>
            <a:srgbClr val="152253"/>
          </a:solidFill>
          <a:ln/>
        </p:spPr>
      </p:sp>
      <p:sp>
        <p:nvSpPr>
          <p:cNvPr id="11" name="Text 9"/>
          <p:cNvSpPr/>
          <p:nvPr/>
        </p:nvSpPr>
        <p:spPr>
          <a:xfrm>
            <a:off x="6588252" y="2093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28916" y="2112264"/>
            <a:ext cx="39913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Uchta yordamchi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606540" y="2807208"/>
            <a:ext cx="46588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(universal) · Claude (tahlil) · Gemini (multimodal).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813048"/>
            <a:ext cx="53172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05256" y="4123944"/>
            <a:ext cx="548640" cy="548640"/>
          </a:xfrm>
          <a:prstGeom prst="ellipse">
            <a:avLst/>
          </a:prstGeom>
          <a:solidFill>
            <a:srgbClr val="152253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" y="4123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4142232"/>
            <a:ext cx="39913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ish — to'g'ri vosita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23544" y="4837176"/>
            <a:ext cx="46588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birining kuchli tomoni bor; ko'pincha birga ishlaydi.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7356" y="3813048"/>
            <a:ext cx="53172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8252" y="4123944"/>
            <a:ext cx="548640" cy="548640"/>
          </a:xfrm>
          <a:prstGeom prst="ellipse">
            <a:avLst/>
          </a:prstGeom>
          <a:solidFill>
            <a:srgbClr val="15225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8252" y="4123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28916" y="4142232"/>
            <a:ext cx="39913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Odam markazda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606540" y="4837176"/>
            <a:ext cx="46588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Maxfiylik, tekshiruv va yakuniy qaror — har doim insonniki.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" y="58521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E4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 bilan ish — hamkorlik: u tezlashtiradi, inson yo'naltiradi va qaror qiladi.”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3-SESSIYA · Claude va Gemini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22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737360"/>
            <a:ext cx="6583680" cy="6583680"/>
          </a:xfrm>
          <a:prstGeom prst="ellipse">
            <a:avLst/>
          </a:prstGeom>
          <a:solidFill>
            <a:srgbClr val="1D2C6B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274320"/>
            <a:ext cx="3291840" cy="3291840"/>
          </a:xfrm>
          <a:prstGeom prst="ellipse">
            <a:avLst/>
          </a:prstGeom>
          <a:solidFill>
            <a:srgbClr val="2E40A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1-KUN YAKUNI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Rahmat!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94360" y="3017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2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SI dunyosi bilan tanishdik — endi navbat amaliyotda.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3840480"/>
            <a:ext cx="1943100" cy="420624"/>
          </a:xfrm>
          <a:prstGeom prst="roundRect">
            <a:avLst>
              <a:gd name="adj" fmla="val 50000"/>
            </a:avLst>
          </a:prstGeom>
          <a:solidFill>
            <a:srgbClr val="1D2C6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840480"/>
            <a:ext cx="19431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8E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landshafti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66060" y="3840480"/>
            <a:ext cx="1257300" cy="420624"/>
          </a:xfrm>
          <a:prstGeom prst="roundRect">
            <a:avLst>
              <a:gd name="adj" fmla="val 50000"/>
            </a:avLst>
          </a:prstGeom>
          <a:solidFill>
            <a:srgbClr val="1D2C6B"/>
          </a:solidFill>
          <a:ln/>
        </p:spPr>
      </p:sp>
      <p:sp>
        <p:nvSpPr>
          <p:cNvPr id="10" name="Text 8"/>
          <p:cNvSpPr/>
          <p:nvPr/>
        </p:nvSpPr>
        <p:spPr>
          <a:xfrm>
            <a:off x="2766060" y="3840480"/>
            <a:ext cx="12573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8E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51960" y="3840480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1D2C6B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38404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8E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va Gemini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5029200"/>
            <a:ext cx="502920" cy="502920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5154930"/>
            <a:ext cx="251460" cy="2514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80160" y="5029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Sinab ko'ring, savol bering, kashf qiling. Ko'rishguncha!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va Gemini</dc:title>
  <dc:subject>PptxGenJS Presentation</dc:subject>
  <dc:creator>AI Training</dc:creator>
  <cp:lastModifiedBy>AI Training</cp:lastModifiedBy>
  <cp:revision>1</cp:revision>
  <dcterms:created xsi:type="dcterms:W3CDTF">2026-06-22T05:47:51Z</dcterms:created>
  <dcterms:modified xsi:type="dcterms:W3CDTF">2026-06-22T05:47:51Z</dcterms:modified>
</cp:coreProperties>
</file>